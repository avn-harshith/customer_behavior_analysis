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3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48460"/>
            <a:ext cx="10566400" cy="439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3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800" dirty="0">
                <a:solidFill>
                  <a:srgbClr val="1B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48460"/>
            <a:ext cx="10566400" cy="439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100" kern="0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PORTFOLIO PROJECT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42160"/>
            <a:ext cx="10883392" cy="167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Customer Shopping Behavior Analysis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812800" y="3898900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3,900 purchases tell us about who buys, what they buy and why they come back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5553710"/>
            <a:ext cx="10566400" cy="0"/>
          </a:xfrm>
          <a:prstGeom prst="line">
            <a:avLst/>
          </a:prstGeom>
          <a:noFill/>
          <a:ln w="12700">
            <a:solidFill>
              <a:srgbClr val="3A4B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5760720"/>
            <a:ext cx="159915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 N Harshith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68721" y="5760720"/>
            <a:ext cx="759143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4554" y="5760720"/>
            <a:ext cx="132826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89838" y="5760720"/>
            <a:ext cx="98936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question and the data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12800" y="1740774"/>
            <a:ext cx="10883392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3B46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retail business wants to know who its customers are, what drives spending, and whether subscriptions and discounts are worth it. I took one transaction file and tried to answer that.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15975" y="2816622"/>
            <a:ext cx="3380264" cy="2294890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3072527"/>
            <a:ext cx="2954507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F5FB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3,900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71880" y="4002167"/>
            <a:ext cx="295450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05789" y="2816622"/>
            <a:ext cx="3380343" cy="2294890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1694" y="3072527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F5FB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18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661694" y="4002167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demographics, purchase details, shopping habits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95682" y="2816622"/>
            <a:ext cx="3380343" cy="2294890"/>
          </a:xfrm>
          <a:prstGeom prst="roundRect">
            <a:avLst>
              <a:gd name="adj" fmla="val 4289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1587" y="3072527"/>
            <a:ext cx="2954589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dirty="0">
                <a:solidFill>
                  <a:srgbClr val="1F5FB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37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251587" y="4002167"/>
            <a:ext cx="29545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review ratings to deal with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5636260"/>
            <a:ext cx="1942306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I asked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55106" y="5511800"/>
            <a:ext cx="888281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spends more? Do subscribers spend more? Which products rely on discounts? Which age group brings the most revenue?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I got the data ready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15975" y="1747203"/>
            <a:ext cx="2520950" cy="2954655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1880" y="2003107"/>
            <a:ext cx="20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7B3F9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71880" y="2673668"/>
            <a:ext cx="2069414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1880" y="3064828"/>
            <a:ext cx="2069414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Looked at structure and summary stats with pandas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95675" y="1747203"/>
            <a:ext cx="2520950" cy="2954655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51580" y="2003107"/>
            <a:ext cx="20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7B3F9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51580" y="2673668"/>
            <a:ext cx="2069414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51580" y="3064828"/>
            <a:ext cx="206941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the 37 missing ratings with the median for each product category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5375" y="1747203"/>
            <a:ext cx="2520950" cy="2954655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1280" y="2003107"/>
            <a:ext cx="20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7B3F9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31280" y="2673668"/>
            <a:ext cx="2069414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31280" y="3064828"/>
            <a:ext cx="2069414" cy="1406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age groups and a purchase frequency column, dropped a duplicate promo column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55075" y="1747203"/>
            <a:ext cx="2520950" cy="2954655"/>
          </a:xfrm>
          <a:prstGeom prst="roundRect">
            <a:avLst>
              <a:gd name="adj" fmla="val 3904"/>
            </a:avLst>
          </a:prstGeom>
          <a:solidFill>
            <a:srgbClr val="FFFFFF"/>
          </a:solidFill>
          <a:ln w="6350">
            <a:solidFill>
              <a:srgbClr val="E0DC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10980" y="2003107"/>
            <a:ext cx="20694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7B3F9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110980" y="2673668"/>
            <a:ext cx="2069414" cy="314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10980" y="3064828"/>
            <a:ext cx="2069414" cy="113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it into PostgreSQL and wrote 10 SQL queries for business questions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800" y="5105400"/>
            <a:ext cx="10566400" cy="939800"/>
          </a:xfrm>
          <a:prstGeom prst="roundRect">
            <a:avLst>
              <a:gd name="adj" fmla="val 10811"/>
            </a:avLst>
          </a:prstGeom>
          <a:solidFill>
            <a:srgbClr val="E9E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5433061"/>
            <a:ext cx="167663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5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438" y="5308600"/>
            <a:ext cx="863321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the category median kept ratings realistic without pulling averages around. Snake case column names kept the SQL easy to read.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the numbers showed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12800" y="1783080"/>
            <a:ext cx="3403600" cy="2042160"/>
          </a:xfrm>
          <a:prstGeom prst="roundRect">
            <a:avLst>
              <a:gd name="adj" fmla="val 4975"/>
            </a:avLst>
          </a:prstGeom>
          <a:solidFill>
            <a:srgbClr val="1D2D52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037080"/>
            <a:ext cx="298246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7FB8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68%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66800" y="2824480"/>
            <a:ext cx="298246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came from male customers: $157,890 against $75,191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94200" y="1783080"/>
            <a:ext cx="3403600" cy="2042160"/>
          </a:xfrm>
          <a:prstGeom prst="roundRect">
            <a:avLst>
              <a:gd name="adj" fmla="val 4975"/>
            </a:avLst>
          </a:prstGeom>
          <a:solidFill>
            <a:srgbClr val="1D2D52"/>
          </a:solidFill>
          <a:ln/>
        </p:spPr>
      </p:sp>
      <p:sp>
        <p:nvSpPr>
          <p:cNvPr id="7" name="Text 5"/>
          <p:cNvSpPr/>
          <p:nvPr/>
        </p:nvSpPr>
        <p:spPr>
          <a:xfrm>
            <a:off x="4648200" y="2037080"/>
            <a:ext cx="298246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7FB8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$59.49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648200" y="2824480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spend for subscribers, versus $59.87 for everyone else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75600" y="1783080"/>
            <a:ext cx="3403600" cy="2042160"/>
          </a:xfrm>
          <a:prstGeom prst="roundRect">
            <a:avLst>
              <a:gd name="adj" fmla="val 4975"/>
            </a:avLst>
          </a:prstGeom>
          <a:solidFill>
            <a:srgbClr val="1D2D5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0" y="2037080"/>
            <a:ext cx="298246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7FB8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$62.1K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29600" y="2824480"/>
            <a:ext cx="298246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young adults, the top age group. Seniors were lowest at $55.8K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4003041"/>
            <a:ext cx="3403600" cy="2042160"/>
          </a:xfrm>
          <a:prstGeom prst="roundRect">
            <a:avLst>
              <a:gd name="adj" fmla="val 4975"/>
            </a:avLst>
          </a:prstGeom>
          <a:solidFill>
            <a:srgbClr val="1D2D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257041"/>
            <a:ext cx="298246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7FB8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80%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066800" y="5044441"/>
            <a:ext cx="298246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customers are in the Loyal segment (3,116 of 3,900)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94200" y="4003041"/>
            <a:ext cx="3403600" cy="2042160"/>
          </a:xfrm>
          <a:prstGeom prst="roundRect">
            <a:avLst>
              <a:gd name="adj" fmla="val 4975"/>
            </a:avLst>
          </a:prstGeom>
          <a:solidFill>
            <a:srgbClr val="1D2D52"/>
          </a:solidFill>
          <a:ln/>
        </p:spPr>
      </p:sp>
      <p:sp>
        <p:nvSpPr>
          <p:cNvPr id="16" name="Text 14"/>
          <p:cNvSpPr/>
          <p:nvPr/>
        </p:nvSpPr>
        <p:spPr>
          <a:xfrm>
            <a:off x="4648200" y="4257041"/>
            <a:ext cx="298246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7FB8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$60.48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648200" y="5044441"/>
            <a:ext cx="298246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with Express shipping, against $58.46 for Standard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75600" y="4003041"/>
            <a:ext cx="3403600" cy="2042160"/>
          </a:xfrm>
          <a:prstGeom prst="roundRect">
            <a:avLst>
              <a:gd name="adj" fmla="val 4975"/>
            </a:avLst>
          </a:prstGeom>
          <a:solidFill>
            <a:srgbClr val="1D2D5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4257041"/>
            <a:ext cx="2982468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000" dirty="0">
                <a:solidFill>
                  <a:srgbClr val="7FB8F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3.86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29600" y="5044441"/>
            <a:ext cx="2982468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average rating, for Gloves. Sandals and Boots follow at 3.84 and 3.82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The Power BI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2171700"/>
            <a:ext cx="6985000" cy="392430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</p:spPr>
      </p:sp>
      <p:pic>
        <p:nvPicPr>
          <p:cNvPr id="4" name="Image 0" descr="Customer Behavior Dashboard in Power BI">    </p:cNvPr>
          <p:cNvPicPr>
            <a:picLocks noChangeAspect="1"/>
          </p:cNvPicPr>
          <p:nvPr/>
        </p:nvPicPr>
        <p:blipFill>
          <a:blip r:embed="rId1"/>
          <a:srcRect l="0" r="0" t="-142" b="-142"/>
          <a:stretch/>
        </p:blipFill>
        <p:spPr>
          <a:xfrm>
            <a:off x="812800" y="2171700"/>
            <a:ext cx="6985000" cy="3924300"/>
          </a:xfrm>
          <a:prstGeom prst="roundRect">
            <a:avLst>
              <a:gd name="adj" fmla="val 1942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02600" y="2843532"/>
            <a:ext cx="3374898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glance:</a:t>
            </a: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3.9K customers, $59.76 average purchase, 3.75 average rating.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102600" y="3849371"/>
            <a:ext cx="33748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by:</a:t>
            </a: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subscription (27% yes, 73% no), category and age group.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02600" y="4570732"/>
            <a:ext cx="3374898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Slicers:</a:t>
            </a:r>
            <a:r>
              <a:rPr lang="en-US" sz="16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subscription, gender, category and shipping type, so anyone can explore it without SQL.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0" i="0" dirty="0">
                <a:solidFill>
                  <a:srgbClr val="1B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I would suggest</a:t>
            </a:r>
            <a:endParaRPr lang="en-US" sz="3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722881"/>
          <a:ext cx="10556240" cy="3322320"/>
        </p:xfrm>
        <a:graphic>
          <a:graphicData uri="http://schemas.openxmlformats.org/drawingml/2006/table">
            <a:tbl>
              <a:tblPr/>
              <a:tblGrid>
                <a:gridCol w="3518747"/>
                <a:gridCol w="3518747"/>
                <a:gridCol w="3518747"/>
              </a:tblGrid>
              <a:tr h="43688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Finding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Suggestion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Subscribers spend about the same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$59.49 vs $59.87 average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 real perk, like free shipping, so joining pays off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customers are already Loyal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3,116 of 3,900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a rewards program and move Returning customers up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Some products lean on discounts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Hats 50%, Sneakers 49.7%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 margins before discounting them so often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13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Young adults spend the most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$62,143 of $233,081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Aim campaigns at them first, plus Express shippers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612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0" i="0" dirty="0">
                <a:solidFill>
                  <a:srgbClr val="F6F4E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I took from this project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12800" y="2708911"/>
            <a:ext cx="10883392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the data took more thought than any chart. I now think about the question first and the tool second.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12800" y="4658361"/>
            <a:ext cx="3420507" cy="1386840"/>
          </a:xfrm>
          <a:prstGeom prst="roundRect">
            <a:avLst>
              <a:gd name="adj" fmla="val 7326"/>
            </a:avLst>
          </a:prstGeom>
          <a:solidFill>
            <a:srgbClr val="1D2D52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4912361"/>
            <a:ext cx="299988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5293361"/>
            <a:ext cx="299988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Cleaning, missing values, new features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5707" y="4658361"/>
            <a:ext cx="3420586" cy="1386840"/>
          </a:xfrm>
          <a:prstGeom prst="roundRect">
            <a:avLst>
              <a:gd name="adj" fmla="val 7326"/>
            </a:avLst>
          </a:prstGeom>
          <a:solidFill>
            <a:srgbClr val="1D2D52"/>
          </a:solidFill>
          <a:ln/>
        </p:spPr>
      </p:sp>
      <p:sp>
        <p:nvSpPr>
          <p:cNvPr id="8" name="Text 6"/>
          <p:cNvSpPr/>
          <p:nvPr/>
        </p:nvSpPr>
        <p:spPr>
          <a:xfrm>
            <a:off x="4639707" y="4912361"/>
            <a:ext cx="299996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39707" y="5293361"/>
            <a:ext cx="2999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queries in PostgreSQL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8693" y="4658361"/>
            <a:ext cx="3420507" cy="1386840"/>
          </a:xfrm>
          <a:prstGeom prst="roundRect">
            <a:avLst>
              <a:gd name="adj" fmla="val 7326"/>
            </a:avLst>
          </a:prstGeom>
          <a:solidFill>
            <a:srgbClr val="1D2D52"/>
          </a:solidFill>
          <a:ln/>
        </p:spPr>
      </p:sp>
      <p:sp>
        <p:nvSpPr>
          <p:cNvPr id="11" name="Text 9"/>
          <p:cNvSpPr/>
          <p:nvPr/>
        </p:nvSpPr>
        <p:spPr>
          <a:xfrm>
            <a:off x="8212693" y="4912361"/>
            <a:ext cx="299988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12693" y="5293361"/>
            <a:ext cx="29998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dashboard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er Shopping Behavior Analysis">
  <a:themeElements>
    <a:clrScheme name="Customer Shopping Behavior Analysis">
      <a:dk1>
        <a:srgbClr val="1B2430"/>
      </a:dk1>
      <a:lt1>
        <a:srgbClr val="F6F4EF"/>
      </a:lt1>
      <a:dk2>
        <a:srgbClr val="525860"/>
      </a:dk2>
      <a:lt2>
        <a:srgbClr val="E0DFDC"/>
      </a:lt2>
      <a:accent1>
        <a:srgbClr val="7FB8FF"/>
      </a:accent1>
      <a:accent2>
        <a:srgbClr val="1D2D52"/>
      </a:accent2>
      <a:accent3>
        <a:srgbClr val="1F5FBF"/>
      </a:accent3>
      <a:accent4>
        <a:srgbClr val="7B3F98"/>
      </a:accent4>
      <a:accent5>
        <a:srgbClr val="C9D3E6"/>
      </a:accent5>
      <a:accent6>
        <a:srgbClr val="3B4654"/>
      </a:accent6>
      <a:hlink>
        <a:srgbClr val="0563C1"/>
      </a:hlink>
      <a:folHlink>
        <a:srgbClr val="954F72"/>
      </a:folHlink>
    </a:clrScheme>
    <a:fontScheme name="Customer Shopping Behavior Analysis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/>
  <dc:creator/>
  <cp:lastModifiedBy/>
  <cp:revision>1</cp:revision>
  <dcterms:created xsi:type="dcterms:W3CDTF">2026-10-20T19:08:26Z</dcterms:created>
  <dcterms:modified xsi:type="dcterms:W3CDTF">2026-10-20T19:08:26Z</dcterms:modified>
</cp:coreProperties>
</file>